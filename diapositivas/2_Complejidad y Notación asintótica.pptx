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3" r:id="rId3"/>
    <p:sldId id="260" r:id="rId4"/>
    <p:sldId id="269" r:id="rId5"/>
    <p:sldId id="271" r:id="rId6"/>
    <p:sldId id="272" r:id="rId7"/>
    <p:sldId id="276" r:id="rId8"/>
    <p:sldId id="281" r:id="rId9"/>
    <p:sldId id="270" r:id="rId10"/>
    <p:sldId id="278" r:id="rId11"/>
    <p:sldId id="279" r:id="rId12"/>
    <p:sldId id="277" r:id="rId13"/>
    <p:sldId id="280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4" y="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079E86-30E0-44C1-BDC3-5766184569CA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3AB01-1DFF-4924-964D-8216A6ECF83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098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43AB01-1DFF-4924-964D-8216A6ECF83E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33970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4B9A-627E-C3D7-7E3E-440C862FA6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1B026-061F-C4FF-FE77-025CEE115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C05CC-0272-658A-87BB-C396CA86E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E7E1B-54D1-F219-8ADE-8B1A54531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DC484-C5DC-1387-998F-9DD04910E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3265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3E51-D1C3-1959-E8B1-2CF201907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831BE-C08B-DA1F-2D1E-99E8B1F70B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6934CE-4015-56F0-49F7-D4A1143E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10FBC-660F-3074-7D74-5B350584C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1F3F9-508E-11F7-79B0-13D131493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27388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DD857-DBEA-66CB-5654-55E61D724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1B98F5-8233-D3B2-E738-ADE5F7016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47147-B99E-6D12-931A-42CCE6069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A25678-E768-DC1D-1CE8-A47FDE1D6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DD7E8-EFAD-7F85-7EB7-1CBC438D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7188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D1688-4F85-D1EA-89D8-669D46892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A49D0-8F7B-AB3E-6B83-6527D05B69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D037EC-3630-A173-588B-22FB551C5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6E61FD-B364-F8CE-5A9C-EA9EF13A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585810-AD76-4881-625B-1AC5721F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9C609-ACB4-DB24-BCE4-D98DB2DC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60844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FE0A0-2BBA-FD8B-E8D8-7379DCD1D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0D1C32-BC23-7AF9-C910-CE372B9B9C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B4F16-9A02-9640-BE45-47059FD90D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CF301F-6BD4-24A8-47F3-5E21EDB75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9BCF72-A8C1-B0FD-708A-AFD88558F4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F0FA83-1046-1D6E-E8E9-52453F052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21D1C0-975B-1A0B-03E0-3A65A371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E13A19-46B7-79DF-F8C6-E91A32F6B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9230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BE3A6-793C-A078-5F47-7E0ED47F3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C2F4F2-3E60-9AF6-F1D3-985893B35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ED8DB8-B629-9C3C-8BDA-51189071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1B712-0973-7621-8971-E2EBE3D41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6151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A4B20D-0FB6-73D6-7B20-621164A54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6DC295-56DE-AEEB-6E91-6F7D4A5ED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20BEF-A49E-A233-FF6F-ADC900B63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6795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3F0B-078C-CA07-9FDB-3276899E0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E20BA-B976-6735-7E05-3DB5567CD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3709B1-9087-B438-66BB-E8A0318A0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7B907-BE7A-D830-7C35-DD8664645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AEA50-4C1E-4AA3-6038-F71C694F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5E4B37-E28A-4330-5321-1E35E5B7E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6701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5F9A-7CB7-5806-9CD9-61BBAB5F8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FE61B4-A97D-1480-57D3-50D0BF917E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24108B-A4CA-68BA-E22E-2BA12D43FD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F8960-755A-44F6-02AC-077E5E23B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1F8320-99AC-68C2-81D2-E6B3F3A6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D8DE26-C915-D65B-EB7A-D54E67ABF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90108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B0ED-7E2F-1E76-9276-E15BC5671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9D9D7D-3E15-144B-F947-F2A24A732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4D1FE-9724-8F2A-8315-A0B49375C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1D43BE-25F6-893C-8217-8B4DCF81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951D4-F861-C510-DB4E-69D0171E6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4149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D86E1-43E5-035A-4360-4F3F144315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F4379C-A80D-8A1D-6FEC-FE1B5139C5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E5C6E-9B73-527E-C572-394D5953C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BEB29-5A8D-640B-D725-F0BD832B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E260F-AFF5-A612-2CF8-4F4738448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2461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560B1E-0C80-67C9-35B1-ED2F44194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A8ABA-0388-4935-D56F-E1652891F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45FF3-8A77-4522-E745-7C53C7CF8C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046A9-210B-41B3-B899-D73A4FF094CD}" type="datetimeFigureOut">
              <a:rPr lang="es-MX" smtClean="0"/>
              <a:t>22/01/2026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4EB10-6D42-F81E-09F3-BFEFABE5F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48A1A-4909-86D6-9BDF-070AF65E4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A9A07-E9E6-45B6-B0C3-96F53C93BD5D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37086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nnected sticks shaping polygons background">
            <a:extLst>
              <a:ext uri="{FF2B5EF4-FFF2-40B4-BE49-F238E27FC236}">
                <a16:creationId xmlns:a16="http://schemas.microsoft.com/office/drawing/2014/main" id="{BE7DA883-0DD1-669E-4631-A89D9E161FF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" t="-1" r="5389" b="-1"/>
          <a:stretch>
            <a:fillRect/>
          </a:stretch>
        </p:blipFill>
        <p:spPr>
          <a:xfrm>
            <a:off x="2522358" y="10"/>
            <a:ext cx="9692640" cy="685799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F95F72C-7916-581F-3AF1-5E361BAABCF7}"/>
              </a:ext>
            </a:extLst>
          </p:cNvPr>
          <p:cNvSpPr txBox="1">
            <a:spLocks/>
          </p:cNvSpPr>
          <p:nvPr/>
        </p:nvSpPr>
        <p:spPr>
          <a:xfrm>
            <a:off x="952230" y="42738"/>
            <a:ext cx="3973385" cy="369202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MX" sz="5200"/>
              <a:t>Análisis de Algoritmos I</a:t>
            </a:r>
            <a:endParaRPr lang="es-MX" sz="5200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00C7F82-F242-8A50-5D9D-BC7F090F988D}"/>
              </a:ext>
            </a:extLst>
          </p:cNvPr>
          <p:cNvSpPr txBox="1">
            <a:spLocks/>
          </p:cNvSpPr>
          <p:nvPr/>
        </p:nvSpPr>
        <p:spPr>
          <a:xfrm>
            <a:off x="952229" y="3811064"/>
            <a:ext cx="3973386" cy="447854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MX"/>
              <a:t>María Janneth Rivera Reyna</a:t>
            </a:r>
            <a:endParaRPr lang="es-MX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14C636-FD86-3980-C304-CA1E2A1C5437}"/>
              </a:ext>
            </a:extLst>
          </p:cNvPr>
          <p:cNvSpPr txBox="1"/>
          <p:nvPr/>
        </p:nvSpPr>
        <p:spPr>
          <a:xfrm>
            <a:off x="952229" y="4335216"/>
            <a:ext cx="39733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Lic. En Ciencias de la Computación</a:t>
            </a:r>
          </a:p>
          <a:p>
            <a:r>
              <a:rPr lang="es-MX" dirty="0"/>
              <a:t>Departamento de Matemáticas</a:t>
            </a:r>
          </a:p>
          <a:p>
            <a:r>
              <a:rPr lang="es-MX" dirty="0"/>
              <a:t>Universidad de Sonora</a:t>
            </a:r>
          </a:p>
          <a:p>
            <a:endParaRPr lang="es-MX" dirty="0"/>
          </a:p>
          <a:p>
            <a:r>
              <a:rPr lang="es-MX" dirty="0"/>
              <a:t>Ciclo 2026-1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77947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D53A-A0DA-64A4-9BF6-6CB9AA47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8941"/>
          </a:xfrm>
        </p:spPr>
        <p:txBody>
          <a:bodyPr>
            <a:normAutofit/>
          </a:bodyPr>
          <a:lstStyle/>
          <a:p>
            <a:r>
              <a:rPr lang="es-MX" dirty="0"/>
              <a:t>Complejidad algorítmica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FB0C-3FAA-B7DD-2B72-A8DAEF89A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sz="2600" dirty="0"/>
              <a:t>La complejidad algorítmica representa la cantidad de </a:t>
            </a:r>
            <a:r>
              <a:rPr lang="es-MX" sz="2600" b="1" i="1" dirty="0"/>
              <a:t>recursos </a:t>
            </a:r>
            <a:r>
              <a:rPr lang="es-MX" sz="2600" i="1" dirty="0"/>
              <a:t>(tiempo de ejecución*, espacio, </a:t>
            </a:r>
            <a:r>
              <a:rPr lang="es-MX" sz="2600" i="1" dirty="0" err="1"/>
              <a:t>etc</a:t>
            </a:r>
            <a:r>
              <a:rPr lang="es-MX" sz="2600" i="1" dirty="0"/>
              <a:t>) </a:t>
            </a:r>
            <a:r>
              <a:rPr lang="es-MX" sz="2600" dirty="0"/>
              <a:t>que necesita un algoritmo para resolver un problema y por tanto permite determinar la </a:t>
            </a:r>
            <a:r>
              <a:rPr lang="es-MX" sz="2600" b="1" dirty="0"/>
              <a:t>eficiencia</a:t>
            </a:r>
            <a:r>
              <a:rPr lang="es-MX" sz="2600" dirty="0"/>
              <a:t> de dicho algoritmo.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MX" sz="2600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600" dirty="0">
                <a:latin typeface="Arial" panose="020B0604020202020204" pitchFamily="34" charset="0"/>
              </a:rPr>
              <a:t>Un algoritmo puede ser </a:t>
            </a:r>
            <a:r>
              <a:rPr lang="es-MX" altLang="es-MX" sz="2600" b="1" dirty="0">
                <a:latin typeface="Arial" panose="020B0604020202020204" pitchFamily="34" charset="0"/>
              </a:rPr>
              <a:t>rápido</a:t>
            </a:r>
            <a:r>
              <a:rPr lang="es-MX" altLang="es-MX" sz="2600" dirty="0">
                <a:latin typeface="Arial" panose="020B0604020202020204" pitchFamily="34" charset="0"/>
              </a:rPr>
              <a:t> para datos pequeños pero puede volverse </a:t>
            </a:r>
            <a:r>
              <a:rPr lang="es-MX" altLang="es-MX" sz="2600" b="1" dirty="0">
                <a:latin typeface="Arial" panose="020B0604020202020204" pitchFamily="34" charset="0"/>
              </a:rPr>
              <a:t>inútil</a:t>
            </a:r>
            <a:r>
              <a:rPr lang="es-MX" altLang="es-MX" sz="2600" dirty="0">
                <a:latin typeface="Arial" panose="020B0604020202020204" pitchFamily="34" charset="0"/>
              </a:rPr>
              <a:t> cuando el problema crece.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MX" altLang="es-MX" sz="2600" dirty="0"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600" dirty="0">
                <a:latin typeface="Arial" panose="020B0604020202020204" pitchFamily="34" charset="0"/>
              </a:rPr>
              <a:t>Necesitamos una forma de </a:t>
            </a:r>
            <a:r>
              <a:rPr lang="es-MX" altLang="es-MX" sz="2600" b="1" dirty="0">
                <a:latin typeface="Arial" panose="020B0604020202020204" pitchFamily="34" charset="0"/>
              </a:rPr>
              <a:t>predecir su comportamiento.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MX" altLang="es-MX" sz="26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s-MX" altLang="es-MX" sz="2600" dirty="0">
              <a:latin typeface="Arial" panose="020B0604020202020204" pitchFamily="34" charset="0"/>
            </a:endParaRPr>
          </a:p>
          <a:p>
            <a:endParaRPr lang="es-MX" sz="2600" dirty="0"/>
          </a:p>
        </p:txBody>
      </p:sp>
    </p:spTree>
    <p:extLst>
      <p:ext uri="{BB962C8B-B14F-4D97-AF65-F5344CB8AC3E}">
        <p14:creationId xmlns:p14="http://schemas.microsoft.com/office/powerpoint/2010/main" val="4142654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63D7A-EBE6-85AB-6C1D-F270D3898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2330"/>
            <a:ext cx="10515600" cy="4924633"/>
          </a:xfrm>
        </p:spPr>
        <p:txBody>
          <a:bodyPr>
            <a:normAutofit fontScale="85000" lnSpcReduction="10000"/>
          </a:bodyPr>
          <a:lstStyle/>
          <a:p>
            <a:endParaRPr lang="es-MX" dirty="0"/>
          </a:p>
          <a:p>
            <a:r>
              <a:rPr lang="es-MX" dirty="0"/>
              <a:t>Para que esta medida sea </a:t>
            </a:r>
            <a:r>
              <a:rPr lang="es-MX" b="1" dirty="0"/>
              <a:t>independiente</a:t>
            </a:r>
            <a:r>
              <a:rPr lang="es-MX" dirty="0"/>
              <a:t> del hardware, lenguaje de programación, compilador, habilidades de programación, etc. podemos obtenerla mediante el </a:t>
            </a:r>
            <a:r>
              <a:rPr lang="es-MX" b="1" dirty="0"/>
              <a:t>número de operaciones </a:t>
            </a:r>
            <a:r>
              <a:rPr lang="es-MX" dirty="0"/>
              <a:t>que ejecuta un algoritmo. </a:t>
            </a:r>
          </a:p>
          <a:p>
            <a:endParaRPr lang="es-MX" dirty="0"/>
          </a:p>
          <a:p>
            <a:r>
              <a:rPr lang="es-MX" dirty="0"/>
              <a:t>Más formalmente,  la complejidad describe </a:t>
            </a:r>
            <a:r>
              <a:rPr lang="es-MX" b="1" dirty="0"/>
              <a:t>cómo crece el costo </a:t>
            </a:r>
            <a:r>
              <a:rPr lang="es-MX" dirty="0"/>
              <a:t>de un algoritmo.</a:t>
            </a:r>
          </a:p>
          <a:p>
            <a:endParaRPr lang="es-MX" dirty="0"/>
          </a:p>
          <a:p>
            <a:r>
              <a:rPr lang="es-MX" dirty="0"/>
              <a:t>Se expresa </a:t>
            </a:r>
            <a:r>
              <a:rPr lang="es-MX" b="1" dirty="0"/>
              <a:t>en función del tamaño de la entrada (</a:t>
            </a:r>
            <a:r>
              <a:rPr lang="es-MX" b="1" i="1" dirty="0"/>
              <a:t>n</a:t>
            </a:r>
            <a:r>
              <a:rPr lang="es-MX" b="1" dirty="0"/>
              <a:t>) </a:t>
            </a:r>
            <a:r>
              <a:rPr lang="es-MX" dirty="0"/>
              <a:t>donde </a:t>
            </a:r>
            <a:r>
              <a:rPr lang="es-MX" i="1" dirty="0"/>
              <a:t>n</a:t>
            </a:r>
            <a:r>
              <a:rPr lang="es-MX" dirty="0"/>
              <a:t> puede ser:</a:t>
            </a:r>
          </a:p>
          <a:p>
            <a:pPr lvl="1"/>
            <a:r>
              <a:rPr lang="es-MX" dirty="0"/>
              <a:t>Número de datos</a:t>
            </a:r>
          </a:p>
          <a:p>
            <a:pPr lvl="1"/>
            <a:r>
              <a:rPr lang="es-MX" dirty="0"/>
              <a:t>Tamaño de un arreglo</a:t>
            </a:r>
          </a:p>
          <a:p>
            <a:pPr lvl="1"/>
            <a:r>
              <a:rPr lang="es-MX" dirty="0"/>
              <a:t>Número de nodos,</a:t>
            </a:r>
          </a:p>
          <a:p>
            <a:pPr lvl="1"/>
            <a:r>
              <a:rPr lang="es-MX" dirty="0" err="1"/>
              <a:t>etc</a:t>
            </a:r>
            <a:endParaRPr lang="es-MX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EBCC911-8A38-E832-B014-9E7F6759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09216"/>
          </a:xfrm>
        </p:spPr>
        <p:txBody>
          <a:bodyPr>
            <a:normAutofit/>
          </a:bodyPr>
          <a:lstStyle/>
          <a:p>
            <a:r>
              <a:rPr lang="es-MX" dirty="0"/>
              <a:t>Complejidad algorítmica (cont.)</a:t>
            </a:r>
          </a:p>
        </p:txBody>
      </p:sp>
    </p:spTree>
    <p:extLst>
      <p:ext uri="{BB962C8B-B14F-4D97-AF65-F5344CB8AC3E}">
        <p14:creationId xmlns:p14="http://schemas.microsoft.com/office/powerpoint/2010/main" val="79247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41B09-F532-ECBF-4BE6-37D00BBFD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1561"/>
            <a:ext cx="10515600" cy="1170862"/>
          </a:xfrm>
        </p:spPr>
        <p:txBody>
          <a:bodyPr>
            <a:normAutofit/>
          </a:bodyPr>
          <a:lstStyle/>
          <a:p>
            <a:r>
              <a:rPr lang="es-MX" sz="4000" dirty="0"/>
              <a:t>Modelo RAM y las operaciones básicas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503B2-C01A-CF53-3877-223F577F0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991"/>
            <a:ext cx="10515600" cy="4705972"/>
          </a:xfrm>
        </p:spPr>
        <p:txBody>
          <a:bodyPr>
            <a:noAutofit/>
          </a:bodyPr>
          <a:lstStyle/>
          <a:p>
            <a:r>
              <a:rPr lang="es-MX" sz="2000" dirty="0"/>
              <a:t>Modelo teórico de computación llamado </a:t>
            </a:r>
            <a:r>
              <a:rPr lang="es-MX" sz="2000" b="1" dirty="0"/>
              <a:t>Máquina RAM (</a:t>
            </a:r>
            <a:r>
              <a:rPr lang="es-MX" sz="2000" b="1" dirty="0" err="1"/>
              <a:t>Random</a:t>
            </a:r>
            <a:r>
              <a:rPr lang="es-MX" sz="2000" b="1" dirty="0"/>
              <a:t> Access Machine):</a:t>
            </a:r>
            <a:endParaRPr lang="es-MX" sz="2000" dirty="0"/>
          </a:p>
          <a:p>
            <a:pPr marL="0" indent="0" algn="ctr">
              <a:buNone/>
            </a:pPr>
            <a:r>
              <a:rPr lang="es-MX" sz="2000" dirty="0"/>
              <a:t>Cada operación </a:t>
            </a:r>
            <a:r>
              <a:rPr lang="es-MX" sz="2000" b="1" i="1" dirty="0">
                <a:latin typeface="Palatino Linotype" panose="02040502050505030304" pitchFamily="18" charset="0"/>
              </a:rPr>
              <a:t>i</a:t>
            </a:r>
            <a:r>
              <a:rPr lang="es-MX" sz="2000" dirty="0"/>
              <a:t>, toma el tiempo </a:t>
            </a:r>
            <a:r>
              <a:rPr lang="es-MX" sz="2000" b="1" i="1" dirty="0">
                <a:latin typeface="Palatino Linotype" panose="02040502050505030304" pitchFamily="18" charset="0"/>
              </a:rPr>
              <a:t>t</a:t>
            </a:r>
            <a:r>
              <a:rPr lang="es-MX" sz="2000" b="1" i="1" baseline="-25000" dirty="0">
                <a:latin typeface="Palatino Linotype" panose="02040502050505030304" pitchFamily="18" charset="0"/>
              </a:rPr>
              <a:t>i</a:t>
            </a:r>
            <a:r>
              <a:rPr lang="es-MX" sz="2000" dirty="0">
                <a:latin typeface="Aptos" panose="020B0004020202020204" pitchFamily="34" charset="0"/>
              </a:rPr>
              <a:t> </a:t>
            </a:r>
          </a:p>
          <a:p>
            <a:pPr marL="0" indent="0" algn="ctr">
              <a:buNone/>
            </a:pPr>
            <a:r>
              <a:rPr lang="es-MX" sz="2000" dirty="0">
                <a:latin typeface="Aptos" panose="020B0004020202020204" pitchFamily="34" charset="0"/>
              </a:rPr>
              <a:t>donde </a:t>
            </a:r>
            <a:r>
              <a:rPr lang="es-MX" sz="2000" b="1" i="1" dirty="0">
                <a:latin typeface="Palatino Linotype" panose="02040502050505030304" pitchFamily="18" charset="0"/>
              </a:rPr>
              <a:t>t</a:t>
            </a:r>
            <a:r>
              <a:rPr lang="es-MX" sz="2000" b="1" i="1" baseline="-25000" dirty="0">
                <a:latin typeface="Palatino Linotype" panose="02040502050505030304" pitchFamily="18" charset="0"/>
              </a:rPr>
              <a:t>i </a:t>
            </a:r>
            <a:r>
              <a:rPr lang="es-MX" sz="2000" dirty="0">
                <a:latin typeface="Aptos" panose="020B0004020202020204" pitchFamily="34" charset="0"/>
              </a:rPr>
              <a:t>es una constante que no depende de </a:t>
            </a:r>
            <a:r>
              <a:rPr lang="es-MX" sz="2000" b="1" i="1" dirty="0">
                <a:latin typeface="Palatino Linotype" panose="02040502050505030304" pitchFamily="18" charset="0"/>
              </a:rPr>
              <a:t>n</a:t>
            </a:r>
            <a:endParaRPr lang="es-MX" sz="2000" b="1" dirty="0"/>
          </a:p>
          <a:p>
            <a:r>
              <a:rPr lang="es-MX" sz="2000" dirty="0"/>
              <a:t>Es decir, se asume que las operaciones básicas del CPU toman un tiempo fijo </a:t>
            </a:r>
            <a:r>
              <a:rPr lang="es-MX" sz="2000" i="1" dirty="0"/>
              <a:t>(“cuestan una unidad”</a:t>
            </a:r>
            <a:r>
              <a:rPr lang="es-MX" sz="2000" dirty="0"/>
              <a:t>), independientemente de si el algoritmo está procesando 10 elementos o 10 millones de elementos.</a:t>
            </a:r>
          </a:p>
          <a:p>
            <a:endParaRPr lang="es-MX" sz="2000" b="1" dirty="0"/>
          </a:p>
          <a:p>
            <a:pPr marL="0" indent="0">
              <a:buNone/>
            </a:pPr>
            <a:r>
              <a:rPr lang="es-MX" sz="2000" b="1" dirty="0"/>
              <a:t>Operaciones básicas:</a:t>
            </a:r>
          </a:p>
          <a:p>
            <a:r>
              <a:rPr lang="es-MX" sz="2000" dirty="0"/>
              <a:t>Operaciones aritméticas (Ej. suma, resta, multiplicación, división)</a:t>
            </a:r>
          </a:p>
          <a:p>
            <a:r>
              <a:rPr lang="es-MX" sz="2000" dirty="0"/>
              <a:t>Comparaciones lógicas (Ej. </a:t>
            </a: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 &lt; b</a:t>
            </a:r>
            <a:r>
              <a:rPr lang="es-MX" sz="2000" dirty="0"/>
              <a:t>)</a:t>
            </a:r>
          </a:p>
          <a:p>
            <a:r>
              <a:rPr lang="es-MX" sz="2000" dirty="0"/>
              <a:t>Asignaciones a variables (Ej. </a:t>
            </a: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x = 1)</a:t>
            </a:r>
          </a:p>
          <a:p>
            <a:r>
              <a:rPr lang="es-MX" sz="2000" dirty="0"/>
              <a:t>Accesos a memoria (Ej. </a:t>
            </a:r>
            <a:r>
              <a:rPr lang="es-MX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array[i]</a:t>
            </a:r>
            <a:r>
              <a:rPr lang="es-MX" sz="2000" dirty="0"/>
              <a:t>)</a:t>
            </a:r>
          </a:p>
          <a:p>
            <a:r>
              <a:rPr lang="es-MX" sz="2000" dirty="0"/>
              <a:t>Llamadas o regresos de un procedimiento</a:t>
            </a:r>
          </a:p>
          <a:p>
            <a:endParaRPr lang="es-MX" sz="2000" dirty="0"/>
          </a:p>
          <a:p>
            <a:pPr marL="0" indent="0">
              <a:buNone/>
            </a:pPr>
            <a:endParaRPr lang="es-MX" sz="2000" dirty="0"/>
          </a:p>
        </p:txBody>
      </p:sp>
    </p:spTree>
    <p:extLst>
      <p:ext uri="{BB962C8B-B14F-4D97-AF65-F5344CB8AC3E}">
        <p14:creationId xmlns:p14="http://schemas.microsoft.com/office/powerpoint/2010/main" val="36697493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418D-C76B-7AE8-5F28-43366915F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7368"/>
          </a:xfrm>
        </p:spPr>
        <p:txBody>
          <a:bodyPr>
            <a:normAutofit/>
          </a:bodyPr>
          <a:lstStyle/>
          <a:p>
            <a:r>
              <a:rPr lang="es-MX" dirty="0"/>
              <a:t>Función de costo - 𝑇(𝑛)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76120-ECE6-1428-DD81-B74143AD11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MX" sz="2400" dirty="0"/>
              <a:t>Indica cuántas operaciones ejecuta un algoritmo para una entrada de tamaño </a:t>
            </a:r>
            <a:r>
              <a:rPr lang="es-MX" sz="2400" i="1" dirty="0"/>
              <a:t>n</a:t>
            </a:r>
            <a:r>
              <a:rPr lang="es-MX" sz="2400" dirty="0"/>
              <a:t>.</a:t>
            </a:r>
          </a:p>
          <a:p>
            <a:r>
              <a:rPr lang="es-MX" sz="2400" dirty="0"/>
              <a:t>Esta función </a:t>
            </a:r>
            <a:r>
              <a:rPr lang="es-MX" sz="2400" b="1" dirty="0"/>
              <a:t>describe el comportamiento del algoritmo.</a:t>
            </a:r>
          </a:p>
          <a:p>
            <a:endParaRPr lang="es-MX" sz="2400" b="1" dirty="0"/>
          </a:p>
          <a:p>
            <a:r>
              <a:rPr lang="es-MX" sz="2400" b="1" dirty="0"/>
              <a:t>Funciones de costo más comunes:</a:t>
            </a:r>
          </a:p>
          <a:p>
            <a:r>
              <a:rPr lang="es-MX" sz="2400" dirty="0"/>
              <a:t>𝑇(𝑛) = 1  		</a:t>
            </a:r>
            <a:r>
              <a:rPr lang="es-MX" sz="2400" dirty="0">
                <a:sym typeface="Wingdings" panose="05000000000000000000" pitchFamily="2" charset="2"/>
              </a:rPr>
              <a:t> Crecimiento constante</a:t>
            </a:r>
            <a:endParaRPr lang="es-MX" sz="2400" dirty="0"/>
          </a:p>
          <a:p>
            <a:r>
              <a:rPr lang="es-MX" sz="2400" dirty="0"/>
              <a:t>𝑇(𝑛) = 𝑛 		</a:t>
            </a:r>
            <a:r>
              <a:rPr lang="es-MX" sz="2400" dirty="0">
                <a:sym typeface="Wingdings" panose="05000000000000000000" pitchFamily="2" charset="2"/>
              </a:rPr>
              <a:t> Crecimiento lineal</a:t>
            </a:r>
            <a:endParaRPr lang="es-MX" sz="2400" dirty="0"/>
          </a:p>
          <a:p>
            <a:r>
              <a:rPr lang="es-MX" sz="2400" dirty="0"/>
              <a:t>𝑇(𝑛) = 𝑛</a:t>
            </a:r>
            <a:r>
              <a:rPr lang="es-MX" sz="2400" baseline="30000" dirty="0"/>
              <a:t>2		</a:t>
            </a:r>
            <a:r>
              <a:rPr lang="es-MX" sz="2400" dirty="0">
                <a:sym typeface="Wingdings" panose="05000000000000000000" pitchFamily="2" charset="2"/>
              </a:rPr>
              <a:t> Crecimiento cuadrático</a:t>
            </a:r>
            <a:endParaRPr lang="es-MX" sz="2400" dirty="0"/>
          </a:p>
          <a:p>
            <a:r>
              <a:rPr lang="es-MX" sz="2400" dirty="0"/>
              <a:t>𝑇(𝑛) = log 𝑛		</a:t>
            </a:r>
            <a:r>
              <a:rPr lang="es-MX" sz="2400" dirty="0">
                <a:sym typeface="Wingdings" panose="05000000000000000000" pitchFamily="2" charset="2"/>
              </a:rPr>
              <a:t> Crecimiento logarítmico</a:t>
            </a:r>
          </a:p>
          <a:p>
            <a:r>
              <a:rPr lang="es-MX" sz="2400" dirty="0"/>
              <a:t>𝑇(𝑛) = 𝑛 log 𝑛		</a:t>
            </a:r>
            <a:r>
              <a:rPr lang="es-MX" sz="2400" dirty="0">
                <a:sym typeface="Wingdings" panose="05000000000000000000" pitchFamily="2" charset="2"/>
              </a:rPr>
              <a:t> Crecimiento casi lineal</a:t>
            </a:r>
          </a:p>
          <a:p>
            <a:r>
              <a:rPr lang="es-MX" sz="2400" dirty="0"/>
              <a:t>𝑇(𝑛) = 2</a:t>
            </a:r>
            <a:r>
              <a:rPr lang="es-MX" sz="2400" baseline="30000" dirty="0"/>
              <a:t>𝑛</a:t>
            </a:r>
            <a:r>
              <a:rPr lang="es-MX" sz="2400" dirty="0"/>
              <a:t>		</a:t>
            </a:r>
            <a:r>
              <a:rPr lang="es-MX" sz="2400" dirty="0">
                <a:sym typeface="Wingdings" panose="05000000000000000000" pitchFamily="2" charset="2"/>
              </a:rPr>
              <a:t> Crecimiento exponencial</a:t>
            </a:r>
          </a:p>
          <a:p>
            <a:r>
              <a:rPr lang="es-MX" sz="2400" dirty="0"/>
              <a:t>𝑇(𝑛) = 𝑛!		</a:t>
            </a:r>
            <a:r>
              <a:rPr lang="es-MX" sz="2400" dirty="0">
                <a:sym typeface="Wingdings" panose="05000000000000000000" pitchFamily="2" charset="2"/>
              </a:rPr>
              <a:t> Crecimiento factorial</a:t>
            </a:r>
            <a:endParaRPr lang="es-MX" sz="2400" dirty="0"/>
          </a:p>
          <a:p>
            <a:endParaRPr lang="es-MX" sz="2400" dirty="0">
              <a:sym typeface="Wingdings" panose="05000000000000000000" pitchFamily="2" charset="2"/>
            </a:endParaRPr>
          </a:p>
          <a:p>
            <a:endParaRPr lang="es-MX" sz="2400" dirty="0"/>
          </a:p>
          <a:p>
            <a:endParaRPr lang="es-MX" sz="2400" b="1" dirty="0"/>
          </a:p>
        </p:txBody>
      </p:sp>
    </p:spTree>
    <p:extLst>
      <p:ext uri="{BB962C8B-B14F-4D97-AF65-F5344CB8AC3E}">
        <p14:creationId xmlns:p14="http://schemas.microsoft.com/office/powerpoint/2010/main" val="74157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A5AE-05F6-DFE2-C426-0EE89530E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Tasa de crecimiento y notación asintótica (O,</a:t>
            </a:r>
            <a:r>
              <a:rPr lang="el-GR" dirty="0"/>
              <a:t> Θ</a:t>
            </a:r>
            <a:r>
              <a:rPr lang="es-MX" dirty="0"/>
              <a:t>, </a:t>
            </a:r>
            <a:r>
              <a:rPr lang="el-GR" dirty="0"/>
              <a:t>Ω</a:t>
            </a:r>
            <a:r>
              <a:rPr lang="es-MX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4792C-EC4B-26C0-580E-2E41664992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24" y="2025972"/>
            <a:ext cx="538451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400" dirty="0"/>
              <a:t>La </a:t>
            </a:r>
            <a:r>
              <a:rPr lang="es-MX" sz="2400" b="1" dirty="0"/>
              <a:t>tasa de crecimiento </a:t>
            </a:r>
            <a:r>
              <a:rPr lang="es-MX" sz="2400" dirty="0"/>
              <a:t>nos dice cómo crece la función de costo de un algoritmo cuando n crece y para ello se usa la </a:t>
            </a:r>
            <a:r>
              <a:rPr lang="es-MX" sz="2400" b="1" dirty="0"/>
              <a:t>notación asintótica</a:t>
            </a:r>
            <a:r>
              <a:rPr lang="es-MX" sz="2400" dirty="0"/>
              <a:t>:</a:t>
            </a:r>
          </a:p>
          <a:p>
            <a:r>
              <a:rPr lang="es-MX" sz="2400" b="1" dirty="0"/>
              <a:t>O( )</a:t>
            </a:r>
            <a:r>
              <a:rPr lang="es-MX" sz="2400" dirty="0"/>
              <a:t> → cota superior (peor caso)</a:t>
            </a:r>
          </a:p>
          <a:p>
            <a:r>
              <a:rPr lang="es-MX" sz="2400" b="1" dirty="0"/>
              <a:t>Θ( )</a:t>
            </a:r>
            <a:r>
              <a:rPr lang="es-MX" sz="2400" dirty="0"/>
              <a:t> → crecimiento exacto (caso promedio)</a:t>
            </a:r>
          </a:p>
          <a:p>
            <a:r>
              <a:rPr lang="es-MX" sz="2400" b="1" dirty="0"/>
              <a:t>Ω( )</a:t>
            </a:r>
            <a:r>
              <a:rPr lang="es-MX" sz="2400" dirty="0"/>
              <a:t> → cota inferior (mejor caso)</a:t>
            </a:r>
          </a:p>
          <a:p>
            <a:endParaRPr lang="es-MX" sz="2400" dirty="0"/>
          </a:p>
          <a:p>
            <a:endParaRPr lang="es-MX" sz="2400" dirty="0"/>
          </a:p>
          <a:p>
            <a:endParaRPr lang="es-MX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27F50E-273F-45AF-D785-A72754FC867A}"/>
              </a:ext>
            </a:extLst>
          </p:cNvPr>
          <p:cNvSpPr txBox="1"/>
          <p:nvPr/>
        </p:nvSpPr>
        <p:spPr>
          <a:xfrm>
            <a:off x="6190180" y="2025972"/>
            <a:ext cx="586012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No mide el tiempo exacto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Describe el crecimiento del número de operaciones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Ignora constantes y términos pequeños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Ayuda a comparar algoritmos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400" dirty="0"/>
              <a:t>Se usa principalmente para el peor caso → </a:t>
            </a:r>
            <a:r>
              <a:rPr lang="es-MX" sz="2400" i="1" dirty="0"/>
              <a:t>Big-O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3756025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4028C-16E9-69A1-C65B-F4839F04B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 función a notación Big-O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272A8-B184-F0EC-AEC1-9CD7541CE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84160" cy="4351338"/>
          </a:xfrm>
        </p:spPr>
        <p:txBody>
          <a:bodyPr/>
          <a:lstStyle/>
          <a:p>
            <a:r>
              <a:rPr lang="es-MX" dirty="0"/>
              <a:t>T(n)=3n+10 </a:t>
            </a:r>
          </a:p>
          <a:p>
            <a:r>
              <a:rPr lang="es-MX" dirty="0"/>
              <a:t>El término dominante es </a:t>
            </a:r>
            <a:r>
              <a:rPr lang="es-MX" i="1" dirty="0"/>
              <a:t>n</a:t>
            </a:r>
            <a:endParaRPr lang="es-MX" dirty="0"/>
          </a:p>
          <a:p>
            <a:r>
              <a:rPr lang="es-MX" dirty="0"/>
              <a:t>Big-O: </a:t>
            </a:r>
            <a:r>
              <a:rPr lang="es-MX" b="1" dirty="0"/>
              <a:t>O(n)</a:t>
            </a:r>
          </a:p>
          <a:p>
            <a:endParaRPr lang="es-MX" b="1" dirty="0"/>
          </a:p>
          <a:p>
            <a:r>
              <a:rPr lang="es-MX" dirty="0"/>
              <a:t>T(n)=5n</a:t>
            </a:r>
            <a:r>
              <a:rPr lang="es-MX" baseline="30000" dirty="0"/>
              <a:t>2</a:t>
            </a:r>
            <a:r>
              <a:rPr lang="es-MX" dirty="0"/>
              <a:t>+3n+10</a:t>
            </a:r>
          </a:p>
          <a:p>
            <a:r>
              <a:rPr lang="es-MX" dirty="0"/>
              <a:t>El término dominante es n</a:t>
            </a:r>
            <a:r>
              <a:rPr lang="es-MX" baseline="30000" dirty="0"/>
              <a:t>2</a:t>
            </a:r>
          </a:p>
          <a:p>
            <a:r>
              <a:rPr lang="es-MX" dirty="0"/>
              <a:t>Big-O: </a:t>
            </a:r>
            <a:r>
              <a:rPr lang="es-MX" b="1" dirty="0"/>
              <a:t>O(n</a:t>
            </a:r>
            <a:r>
              <a:rPr lang="es-MX" b="1" baseline="30000" dirty="0"/>
              <a:t>2</a:t>
            </a:r>
            <a:r>
              <a:rPr lang="es-MX" b="1" dirty="0"/>
              <a:t>)</a:t>
            </a:r>
          </a:p>
          <a:p>
            <a:pPr marL="0" indent="0">
              <a:buNone/>
            </a:pPr>
            <a:endParaRPr lang="es-MX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8FF902-DAE8-74C8-BF38-A02E7D23C671}"/>
              </a:ext>
            </a:extLst>
          </p:cNvPr>
          <p:cNvSpPr txBox="1"/>
          <p:nvPr/>
        </p:nvSpPr>
        <p:spPr>
          <a:xfrm>
            <a:off x="6427770" y="1825625"/>
            <a:ext cx="6095144" cy="22985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/>
              <a:t>T(n)=nlogn+100n</a:t>
            </a:r>
          </a:p>
          <a:p>
            <a:r>
              <a:rPr lang="es-MX" dirty="0"/>
              <a:t>El término dominante es n log n</a:t>
            </a:r>
          </a:p>
          <a:p>
            <a:r>
              <a:rPr lang="es-MX" dirty="0"/>
              <a:t>Big-O: </a:t>
            </a:r>
            <a:r>
              <a:rPr lang="es-MX" b="1" dirty="0"/>
              <a:t>O(n log n)</a:t>
            </a:r>
          </a:p>
        </p:txBody>
      </p:sp>
    </p:spTree>
    <p:extLst>
      <p:ext uri="{BB962C8B-B14F-4D97-AF65-F5344CB8AC3E}">
        <p14:creationId xmlns:p14="http://schemas.microsoft.com/office/powerpoint/2010/main" val="391453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dev.to/bracikaa/what-is-the-logarithmic-runtime-o-log-n-30je">
            <a:extLst>
              <a:ext uri="{FF2B5EF4-FFF2-40B4-BE49-F238E27FC236}">
                <a16:creationId xmlns:a16="http://schemas.microsoft.com/office/drawing/2014/main" id="{4E37A052-00C4-BE7E-095C-72EC185FC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112" y="2150306"/>
            <a:ext cx="6729573" cy="453405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EDE0514F-7462-DDC6-EA65-C8845CAC24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04635" y="1550142"/>
            <a:ext cx="10515600" cy="424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400" dirty="0"/>
              <a:t>O(1) &lt; O(log </a:t>
            </a:r>
            <a:r>
              <a:rPr lang="es-MX" sz="2400" dirty="0"/>
              <a:t>𝑛</a:t>
            </a:r>
            <a:r>
              <a:rPr lang="pt-BR" sz="2400" dirty="0"/>
              <a:t>) &lt; O(</a:t>
            </a:r>
            <a:r>
              <a:rPr lang="es-MX" sz="2400" dirty="0"/>
              <a:t>𝑛</a:t>
            </a:r>
            <a:r>
              <a:rPr lang="pt-BR" sz="2400" dirty="0"/>
              <a:t>) &lt; O(</a:t>
            </a:r>
            <a:r>
              <a:rPr lang="es-MX" sz="2400" dirty="0"/>
              <a:t>𝑛 </a:t>
            </a:r>
            <a:r>
              <a:rPr lang="pt-BR" sz="2400" dirty="0"/>
              <a:t>log</a:t>
            </a:r>
            <a:r>
              <a:rPr lang="es-MX" sz="2400" dirty="0"/>
              <a:t> 𝑛</a:t>
            </a:r>
            <a:r>
              <a:rPr lang="pt-BR" sz="2400" dirty="0"/>
              <a:t>) &lt; O(</a:t>
            </a:r>
            <a:r>
              <a:rPr lang="es-MX" sz="2400" dirty="0"/>
              <a:t>𝑛</a:t>
            </a:r>
            <a:r>
              <a:rPr lang="pt-BR" sz="2400" baseline="30000" dirty="0"/>
              <a:t>2</a:t>
            </a:r>
            <a:r>
              <a:rPr lang="pt-BR" sz="2400" dirty="0"/>
              <a:t>) &lt; O(2</a:t>
            </a:r>
            <a:r>
              <a:rPr lang="es-MX" sz="2400" baseline="30000" dirty="0"/>
              <a:t>𝑛</a:t>
            </a:r>
            <a:r>
              <a:rPr lang="pt-BR" sz="2400" dirty="0"/>
              <a:t>) &lt; O(</a:t>
            </a:r>
            <a:r>
              <a:rPr lang="es-MX" sz="2400" dirty="0"/>
              <a:t>𝑛</a:t>
            </a:r>
            <a:r>
              <a:rPr lang="pt-BR" sz="2400" dirty="0"/>
              <a:t>!)</a:t>
            </a:r>
            <a:endParaRPr lang="es-MX" sz="2400" dirty="0">
              <a:sym typeface="Wingdings" panose="05000000000000000000" pitchFamily="2" charset="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68E368-0605-64F4-8254-ECE28871E354}"/>
              </a:ext>
            </a:extLst>
          </p:cNvPr>
          <p:cNvSpPr txBox="1"/>
          <p:nvPr/>
        </p:nvSpPr>
        <p:spPr>
          <a:xfrm>
            <a:off x="504719" y="439488"/>
            <a:ext cx="106221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4400" dirty="0"/>
              <a:t>Orden de crecimiento (de mejor a peor)</a:t>
            </a:r>
          </a:p>
        </p:txBody>
      </p:sp>
    </p:spTree>
    <p:extLst>
      <p:ext uri="{BB962C8B-B14F-4D97-AF65-F5344CB8AC3E}">
        <p14:creationId xmlns:p14="http://schemas.microsoft.com/office/powerpoint/2010/main" val="1924491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04AF247-C06F-0D44-8D6E-9B57B979E02F}"/>
              </a:ext>
            </a:extLst>
          </p:cNvPr>
          <p:cNvSpPr/>
          <p:nvPr/>
        </p:nvSpPr>
        <p:spPr>
          <a:xfrm>
            <a:off x="4287693" y="2361579"/>
            <a:ext cx="3303867" cy="1067421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702E89-866E-7445-6337-F0BEC4D2D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387"/>
          </a:xfrm>
        </p:spPr>
        <p:txBody>
          <a:bodyPr>
            <a:normAutofit/>
          </a:bodyPr>
          <a:lstStyle/>
          <a:p>
            <a:r>
              <a:rPr lang="es-MX" sz="2800" dirty="0"/>
              <a:t>Ejemplos: Conteo de operaciones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43577CD-373C-2927-9DF3-52EABEEE28AB}"/>
              </a:ext>
            </a:extLst>
          </p:cNvPr>
          <p:cNvSpPr txBox="1">
            <a:spLocks/>
          </p:cNvSpPr>
          <p:nvPr/>
        </p:nvSpPr>
        <p:spPr>
          <a:xfrm>
            <a:off x="4589561" y="2696283"/>
            <a:ext cx="2700130" cy="646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x = x 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47844E-2BE6-6D0D-8432-BB954ED80A2C}"/>
                  </a:ext>
                </a:extLst>
              </p:cNvPr>
              <p:cNvSpPr txBox="1"/>
              <p:nvPr/>
            </p:nvSpPr>
            <p:spPr>
              <a:xfrm>
                <a:off x="3152721" y="3763704"/>
                <a:ext cx="5573810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/>
                  <a:t>Operación básica: </a:t>
                </a:r>
                <a:r>
                  <a:rPr lang="es-MX" sz="2800" dirty="0"/>
                  <a:t>asignación</a:t>
                </a:r>
              </a:p>
              <a:p>
                <a:r>
                  <a:rPr lang="es-MX" sz="2800" b="1" dirty="0"/>
                  <a:t>Núm. veces que se ejecuta: </a:t>
                </a:r>
                <a:r>
                  <a:rPr lang="es-MX" sz="2800" i="1" dirty="0"/>
                  <a:t>1</a:t>
                </a:r>
                <a:r>
                  <a:rPr lang="es-MX" sz="2800" dirty="0"/>
                  <a:t> vez</a:t>
                </a:r>
              </a:p>
              <a:p>
                <a:r>
                  <a:rPr lang="es-MX" sz="2800" b="1" dirty="0"/>
                  <a:t>Función de costo</a:t>
                </a:r>
                <a:r>
                  <a:rPr lang="es-MX" sz="2800" dirty="0"/>
                  <a:t>: </a:t>
                </a:r>
                <a14:m>
                  <m:oMath xmlns:m="http://schemas.openxmlformats.org/officeDocument/2006/math">
                    <m:r>
                      <a:rPr lang="ar-AE" sz="2400" i="1"/>
                      <m:t>𝑇</m:t>
                    </m:r>
                    <m:d>
                      <m:dPr>
                        <m:ctrlPr>
                          <a:rPr lang="ar-AE" sz="2400" i="1"/>
                        </m:ctrlPr>
                      </m:dPr>
                      <m:e>
                        <m:r>
                          <a:rPr lang="ar-AE" sz="2400" i="1"/>
                          <m:t>𝑛</m:t>
                        </m:r>
                      </m:e>
                    </m:d>
                    <m:r>
                      <a:rPr lang="ar-AE" sz="2400"/>
                      <m:t>=</m:t>
                    </m:r>
                    <m:r>
                      <a:rPr lang="es-MX" sz="24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s-MX" sz="2800" dirty="0"/>
              </a:p>
              <a:p>
                <a:r>
                  <a:rPr lang="es-MX" sz="2800" b="1" dirty="0"/>
                  <a:t>Notación Big-O</a:t>
                </a:r>
                <a:r>
                  <a:rPr lang="es-MX" sz="2800" dirty="0"/>
                  <a:t>: O(1)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D47844E-2BE6-6D0D-8432-BB954ED80A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721" y="3763704"/>
                <a:ext cx="5573810" cy="1815882"/>
              </a:xfrm>
              <a:prstGeom prst="rect">
                <a:avLst/>
              </a:prstGeom>
              <a:blipFill>
                <a:blip r:embed="rId2"/>
                <a:stretch>
                  <a:fillRect l="-2186" t="-3356" b="-83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9192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F3BF5-1EC2-22CE-8767-14CD579E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E623E-0F4F-AD11-0586-896691C67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387"/>
          </a:xfrm>
        </p:spPr>
        <p:txBody>
          <a:bodyPr>
            <a:normAutofit/>
          </a:bodyPr>
          <a:lstStyle/>
          <a:p>
            <a:r>
              <a:rPr lang="es-MX" sz="2800" dirty="0"/>
              <a:t>Ejemplos: Conteo de operaciones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64DA09F-4CC9-BDDE-58BF-5EFE93527D83}"/>
              </a:ext>
            </a:extLst>
          </p:cNvPr>
          <p:cNvSpPr/>
          <p:nvPr/>
        </p:nvSpPr>
        <p:spPr>
          <a:xfrm>
            <a:off x="3912685" y="2155639"/>
            <a:ext cx="3983005" cy="119887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80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2BA5394-4EBC-0C60-3DAC-DA19D75544C9}"/>
              </a:ext>
            </a:extLst>
          </p:cNvPr>
          <p:cNvSpPr txBox="1">
            <a:spLocks/>
          </p:cNvSpPr>
          <p:nvPr/>
        </p:nvSpPr>
        <p:spPr>
          <a:xfrm>
            <a:off x="4252272" y="2347420"/>
            <a:ext cx="3396837" cy="16338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i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pPr marL="0" indent="0">
              <a:buNone/>
            </a:pP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98BBC9-4B21-6FC7-A606-70187EB9B965}"/>
                  </a:ext>
                </a:extLst>
              </p:cNvPr>
              <p:cNvSpPr txBox="1"/>
              <p:nvPr/>
            </p:nvSpPr>
            <p:spPr>
              <a:xfrm>
                <a:off x="3143076" y="3805058"/>
                <a:ext cx="5905847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/>
                  <a:t>Operación básica: </a:t>
                </a:r>
                <a:r>
                  <a:rPr lang="es-MX" sz="2800" dirty="0"/>
                  <a:t>asignación</a:t>
                </a:r>
              </a:p>
              <a:p>
                <a:r>
                  <a:rPr lang="es-MX" sz="2800" b="1" dirty="0"/>
                  <a:t>Núm. veces que se ejecuta: </a:t>
                </a:r>
                <a:r>
                  <a:rPr lang="es-MX" sz="2800" i="1" dirty="0"/>
                  <a:t>n</a:t>
                </a:r>
                <a:r>
                  <a:rPr lang="es-MX" sz="2800" dirty="0"/>
                  <a:t> veces</a:t>
                </a:r>
              </a:p>
              <a:p>
                <a:r>
                  <a:rPr lang="es-MX" sz="2800" b="1" dirty="0"/>
                  <a:t>Función de costo</a:t>
                </a:r>
                <a:r>
                  <a:rPr lang="es-MX" sz="2800" dirty="0"/>
                  <a:t>: </a:t>
                </a:r>
                <a14:m>
                  <m:oMath xmlns:m="http://schemas.openxmlformats.org/officeDocument/2006/math">
                    <m:r>
                      <a:rPr lang="ar-AE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8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s-MX" sz="2800" dirty="0"/>
              </a:p>
              <a:p>
                <a:r>
                  <a:rPr lang="es-MX" sz="2800" b="1" dirty="0"/>
                  <a:t>Notación Big-O: </a:t>
                </a:r>
                <a:r>
                  <a:rPr lang="es-MX" sz="2800" dirty="0"/>
                  <a:t>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s-MX" sz="28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398BBC9-4B21-6FC7-A606-70187EB9B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3076" y="3805058"/>
                <a:ext cx="5905847" cy="1815882"/>
              </a:xfrm>
              <a:prstGeom prst="rect">
                <a:avLst/>
              </a:prstGeom>
              <a:blipFill>
                <a:blip r:embed="rId2"/>
                <a:stretch>
                  <a:fillRect l="-2169" t="-3356" r="-1240" b="-83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34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E22CA-27C8-7EDB-277D-2A30AB1B0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B810-673C-6DC2-F00C-54B4665A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3387"/>
          </a:xfrm>
        </p:spPr>
        <p:txBody>
          <a:bodyPr>
            <a:normAutofit/>
          </a:bodyPr>
          <a:lstStyle/>
          <a:p>
            <a:r>
              <a:rPr lang="es-MX" sz="2800" dirty="0"/>
              <a:t>Ejemplos: Conteo de operaciones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7A9865D-C119-363E-9F5E-57B32189E863}"/>
              </a:ext>
            </a:extLst>
          </p:cNvPr>
          <p:cNvSpPr/>
          <p:nvPr/>
        </p:nvSpPr>
        <p:spPr>
          <a:xfrm>
            <a:off x="3763710" y="1786506"/>
            <a:ext cx="4527536" cy="1763998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sz="200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05A33402-D458-8A02-2812-25F95391F754}"/>
              </a:ext>
            </a:extLst>
          </p:cNvPr>
          <p:cNvSpPr txBox="1">
            <a:spLocks/>
          </p:cNvSpPr>
          <p:nvPr/>
        </p:nvSpPr>
        <p:spPr>
          <a:xfrm>
            <a:off x="3849849" y="1993699"/>
            <a:ext cx="4390025" cy="1680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i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j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    x = x 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87E60A-BBCB-D8B9-9E27-15FAFAB6F216}"/>
                  </a:ext>
                </a:extLst>
              </p:cNvPr>
              <p:cNvSpPr txBox="1"/>
              <p:nvPr/>
            </p:nvSpPr>
            <p:spPr>
              <a:xfrm>
                <a:off x="1980947" y="3880986"/>
                <a:ext cx="8230105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/>
                  <a:t>Operación básica: </a:t>
                </a:r>
                <a:r>
                  <a:rPr lang="es-MX" sz="2800" dirty="0"/>
                  <a:t>asignación (en un ciclo anidado)</a:t>
                </a:r>
              </a:p>
              <a:p>
                <a:r>
                  <a:rPr lang="es-MX" sz="2800" b="1" dirty="0"/>
                  <a:t>Número de veces que se ejecuta: </a:t>
                </a:r>
                <a:r>
                  <a:rPr lang="es-MX" sz="2800" i="1" dirty="0"/>
                  <a:t>n x n</a:t>
                </a:r>
                <a:r>
                  <a:rPr lang="es-MX" sz="2800" dirty="0"/>
                  <a:t> veces</a:t>
                </a:r>
              </a:p>
              <a:p>
                <a:r>
                  <a:rPr lang="es-MX" sz="2800" b="1" dirty="0"/>
                  <a:t>Función de costo</a:t>
                </a:r>
                <a:r>
                  <a:rPr lang="es-MX" sz="2800" dirty="0"/>
                  <a:t>: </a:t>
                </a:r>
                <a14:m>
                  <m:oMath xmlns:m="http://schemas.openxmlformats.org/officeDocument/2006/math">
                    <m:r>
                      <a:rPr lang="ar-AE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ar-AE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s-MX" sz="28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s-MX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MX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MX" sz="2800" dirty="0"/>
              </a:p>
              <a:p>
                <a:r>
                  <a:rPr lang="es-MX" sz="2800" b="1" dirty="0"/>
                  <a:t>Notación Big-O: </a:t>
                </a:r>
                <a:r>
                  <a:rPr lang="es-MX" sz="2800" dirty="0"/>
                  <a:t>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MX" sz="2800" b="0" i="1" baseline="3000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s-MX" sz="2800" dirty="0"/>
              </a:p>
              <a:p>
                <a:endParaRPr lang="es-MX" sz="2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987E60A-BBCB-D8B9-9E27-15FAFAB6F2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947" y="3880986"/>
                <a:ext cx="8230105" cy="2246769"/>
              </a:xfrm>
              <a:prstGeom prst="rect">
                <a:avLst/>
              </a:prstGeom>
              <a:blipFill>
                <a:blip r:embed="rId2"/>
                <a:stretch>
                  <a:fillRect l="-1556" t="-2989" r="-444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395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410AA-C85B-3881-B710-021E062BA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084"/>
          </a:xfrm>
        </p:spPr>
        <p:txBody>
          <a:bodyPr>
            <a:normAutofit/>
          </a:bodyPr>
          <a:lstStyle/>
          <a:p>
            <a:r>
              <a:rPr lang="es-MX" sz="2800" dirty="0"/>
              <a:t>Ejemplos: Conteo de operaciones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B4AAE85-B1C5-0EF2-CCD2-5960C3D8E213}"/>
              </a:ext>
            </a:extLst>
          </p:cNvPr>
          <p:cNvSpPr/>
          <p:nvPr/>
        </p:nvSpPr>
        <p:spPr>
          <a:xfrm>
            <a:off x="3954823" y="1423979"/>
            <a:ext cx="3771341" cy="2853833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495795-077B-0F80-1EF0-AECC01D26969}"/>
              </a:ext>
            </a:extLst>
          </p:cNvPr>
          <p:cNvSpPr txBox="1"/>
          <p:nvPr/>
        </p:nvSpPr>
        <p:spPr>
          <a:xfrm>
            <a:off x="4132778" y="1577503"/>
            <a:ext cx="3593387" cy="2546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i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  <a:p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j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y = y 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9E48FF-B73A-9118-FB43-36D5B5A7110D}"/>
                  </a:ext>
                </a:extLst>
              </p:cNvPr>
              <p:cNvSpPr txBox="1"/>
              <p:nvPr/>
            </p:nvSpPr>
            <p:spPr>
              <a:xfrm>
                <a:off x="990172" y="4483295"/>
                <a:ext cx="10211656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/>
                  <a:t>Operación básica: </a:t>
                </a:r>
                <a:r>
                  <a:rPr lang="es-MX" sz="2800" dirty="0"/>
                  <a:t>asignación (en dos ciclos separados)</a:t>
                </a:r>
              </a:p>
              <a:p>
                <a:r>
                  <a:rPr lang="es-MX" sz="2800" b="1" dirty="0"/>
                  <a:t>Número de veces que se ejecuta: </a:t>
                </a:r>
                <a:r>
                  <a:rPr lang="es-MX" sz="2800" dirty="0"/>
                  <a:t>Cada ciclo se ejecuta </a:t>
                </a:r>
                <a:r>
                  <a:rPr lang="es-MX" sz="2800" i="1" dirty="0"/>
                  <a:t>n</a:t>
                </a:r>
                <a:r>
                  <a:rPr lang="es-MX" sz="2800" dirty="0"/>
                  <a:t> veces</a:t>
                </a:r>
              </a:p>
              <a:p>
                <a:r>
                  <a:rPr lang="es-MX" sz="2800" b="1" dirty="0"/>
                  <a:t>Función de costo</a:t>
                </a:r>
                <a:r>
                  <a:rPr lang="es-MX" sz="2800" dirty="0"/>
                  <a:t>:  </a:t>
                </a:r>
                <a14:m>
                  <m:oMath xmlns:m="http://schemas.openxmlformats.org/officeDocument/2006/math">
                    <m:r>
                      <a:rPr lang="es-MX" sz="2800" i="1"/>
                      <m:t>𝑇</m:t>
                    </m:r>
                    <m:d>
                      <m:dPr>
                        <m:ctrlPr>
                          <a:rPr lang="es-MX" sz="2800" i="1"/>
                        </m:ctrlPr>
                      </m:dPr>
                      <m:e>
                        <m:r>
                          <a:rPr lang="es-MX" sz="2800" i="1"/>
                          <m:t>𝑛</m:t>
                        </m:r>
                      </m:e>
                    </m:d>
                    <m:r>
                      <a:rPr lang="es-MX" sz="2800"/>
                      <m:t>=</m:t>
                    </m:r>
                    <m:r>
                      <a:rPr lang="es-MX" sz="2800" i="1"/>
                      <m:t>𝑛</m:t>
                    </m:r>
                    <m:r>
                      <a:rPr lang="es-MX" sz="2800"/>
                      <m:t>+</m:t>
                    </m:r>
                    <m:r>
                      <a:rPr lang="es-MX" sz="2800" i="1"/>
                      <m:t>𝑛</m:t>
                    </m:r>
                    <m:r>
                      <a:rPr lang="es-MX" sz="2800"/>
                      <m:t>=</m:t>
                    </m:r>
                    <m:r>
                      <a:rPr lang="es-MX" sz="2800"/>
                      <m:t>2</m:t>
                    </m:r>
                    <m:r>
                      <a:rPr lang="es-MX" sz="2800" i="1"/>
                      <m:t>𝑛</m:t>
                    </m:r>
                  </m:oMath>
                </a14:m>
                <a:endParaRPr lang="es-MX" sz="2800" dirty="0"/>
              </a:p>
              <a:p>
                <a:r>
                  <a:rPr lang="es-MX" sz="2800" b="1" dirty="0"/>
                  <a:t>Notación Big-O: </a:t>
                </a:r>
                <a:r>
                  <a:rPr lang="es-MX" sz="2800" dirty="0"/>
                  <a:t>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s-MX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99E48FF-B73A-9118-FB43-36D5B5A71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172" y="4483295"/>
                <a:ext cx="10211656" cy="1815882"/>
              </a:xfrm>
              <a:prstGeom prst="rect">
                <a:avLst/>
              </a:prstGeom>
              <a:blipFill>
                <a:blip r:embed="rId2"/>
                <a:stretch>
                  <a:fillRect l="-1193" t="-3356" r="-358" b="-83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1999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BBBE-BF1F-4FF8-1051-52E35C4D9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B697F-DBE8-E4A5-D554-66D81924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3084"/>
          </a:xfrm>
        </p:spPr>
        <p:txBody>
          <a:bodyPr>
            <a:normAutofit/>
          </a:bodyPr>
          <a:lstStyle/>
          <a:p>
            <a:r>
              <a:rPr lang="es-MX" sz="2800" dirty="0"/>
              <a:t>Ejemplos de conteo (cont.)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D1A4D7D-BEBF-4DBB-1B27-84BD0CBBEE6C}"/>
              </a:ext>
            </a:extLst>
          </p:cNvPr>
          <p:cNvSpPr/>
          <p:nvPr/>
        </p:nvSpPr>
        <p:spPr>
          <a:xfrm>
            <a:off x="3768559" y="1114378"/>
            <a:ext cx="4654882" cy="3360017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733FB3-1CDA-F046-EB85-D1A5BEEB73E3}"/>
              </a:ext>
            </a:extLst>
          </p:cNvPr>
          <p:cNvSpPr txBox="1"/>
          <p:nvPr/>
        </p:nvSpPr>
        <p:spPr>
          <a:xfrm>
            <a:off x="3934489" y="1267902"/>
            <a:ext cx="4709846" cy="2546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/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i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x = x + 1</a:t>
            </a:r>
          </a:p>
          <a:p>
            <a:endParaRPr lang="es-MX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j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k = 1 </a:t>
            </a:r>
            <a:r>
              <a:rPr lang="es-MX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</a:t>
            </a:r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n:</a:t>
            </a:r>
          </a:p>
          <a:p>
            <a:r>
              <a:rPr lang="es-MX" dirty="0">
                <a:latin typeface="Courier New" panose="02070309020205020404" pitchFamily="49" charset="0"/>
                <a:cs typeface="Courier New" panose="02070309020205020404" pitchFamily="49" charset="0"/>
              </a:rPr>
              <a:t>        y = y + 1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54A709-90AF-8468-3E57-349EEABC1CE2}"/>
                  </a:ext>
                </a:extLst>
              </p:cNvPr>
              <p:cNvSpPr txBox="1"/>
              <p:nvPr/>
            </p:nvSpPr>
            <p:spPr>
              <a:xfrm>
                <a:off x="913477" y="4600563"/>
                <a:ext cx="10365045" cy="18158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MX" sz="2800" b="1" dirty="0"/>
                  <a:t>Operación básica: </a:t>
                </a:r>
                <a:r>
                  <a:rPr lang="es-MX" sz="2800" dirty="0"/>
                  <a:t>asignación (en dos ciclos separados)</a:t>
                </a:r>
              </a:p>
              <a:p>
                <a:r>
                  <a:rPr lang="es-MX" sz="2800" b="1" dirty="0"/>
                  <a:t>Número de veces que se ejecuta: </a:t>
                </a:r>
                <a:r>
                  <a:rPr lang="es-MX" sz="2800" dirty="0"/>
                  <a:t>Cada ciclo se ejecuta </a:t>
                </a:r>
                <a:r>
                  <a:rPr lang="es-MX" sz="2800" i="1" dirty="0"/>
                  <a:t>n</a:t>
                </a:r>
                <a:r>
                  <a:rPr lang="es-MX" sz="2800" dirty="0"/>
                  <a:t> veces</a:t>
                </a:r>
              </a:p>
              <a:p>
                <a:r>
                  <a:rPr lang="es-MX" sz="2800" b="1" dirty="0"/>
                  <a:t>Función de costo</a:t>
                </a:r>
                <a:r>
                  <a:rPr lang="es-MX" sz="2800" dirty="0"/>
                  <a:t>:  </a:t>
                </a:r>
                <a14:m>
                  <m:oMath xmlns:m="http://schemas.openxmlformats.org/officeDocument/2006/math">
                    <m:r>
                      <a:rPr lang="es-MX" sz="280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s-MX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s-MX" sz="280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28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80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ar-AE" sz="2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s-MX" sz="2800" dirty="0"/>
              </a:p>
              <a:p>
                <a:r>
                  <a:rPr lang="es-MX" sz="2800" b="1" dirty="0"/>
                  <a:t>Notación Big-O: </a:t>
                </a:r>
                <a:r>
                  <a:rPr lang="es-MX" sz="2800" dirty="0"/>
                  <a:t>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ar-AE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8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MX" sz="2800" i="1" baseline="3000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s-MX" sz="28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54A709-90AF-8468-3E57-349EEABC1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7" y="4600563"/>
                <a:ext cx="10365045" cy="1815882"/>
              </a:xfrm>
              <a:prstGeom prst="rect">
                <a:avLst/>
              </a:prstGeom>
              <a:blipFill>
                <a:blip r:embed="rId2"/>
                <a:stretch>
                  <a:fillRect l="-1235" t="-3691" b="-8389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342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10510</TotalTime>
  <Words>916</Words>
  <Application>Microsoft Office PowerPoint</Application>
  <PresentationFormat>Widescreen</PresentationFormat>
  <Paragraphs>117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Courier New</vt:lpstr>
      <vt:lpstr>Palatino Linotype</vt:lpstr>
      <vt:lpstr>Wingdings</vt:lpstr>
      <vt:lpstr>Office Theme</vt:lpstr>
      <vt:lpstr>PowerPoint Presentation</vt:lpstr>
      <vt:lpstr>Complejidad algorítmica</vt:lpstr>
      <vt:lpstr>Complejidad algorítmica (cont.)</vt:lpstr>
      <vt:lpstr>Modelo RAM y las operaciones básicas</vt:lpstr>
      <vt:lpstr>Función de costo - 𝑇(𝑛) </vt:lpstr>
      <vt:lpstr>Tasa de crecimiento y notación asintótica (O, Θ, Ω)</vt:lpstr>
      <vt:lpstr>De función a notación Big-O</vt:lpstr>
      <vt:lpstr>O(1) &lt; O(log 𝑛) &lt; O(𝑛) &lt; O(𝑛 log 𝑛) &lt; O(𝑛2) &lt; O(2𝑛) &lt; O(𝑛!)</vt:lpstr>
      <vt:lpstr>Ejemplos: Conteo de operaciones</vt:lpstr>
      <vt:lpstr>Ejemplos: Conteo de operaciones</vt:lpstr>
      <vt:lpstr>Ejemplos: Conteo de operaciones</vt:lpstr>
      <vt:lpstr>Ejemplos: Conteo de operaciones</vt:lpstr>
      <vt:lpstr>Ejemplos de conteo (cont.)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JANNETH RIVERA REYNA</dc:creator>
  <cp:lastModifiedBy>MARIA JANNETH RIVERA REYNA</cp:lastModifiedBy>
  <cp:revision>20</cp:revision>
  <dcterms:created xsi:type="dcterms:W3CDTF">2026-01-17T07:49:21Z</dcterms:created>
  <dcterms:modified xsi:type="dcterms:W3CDTF">2026-01-26T18:59:36Z</dcterms:modified>
</cp:coreProperties>
</file>